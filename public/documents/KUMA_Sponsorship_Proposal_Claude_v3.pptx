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781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KUMA는 2026 시즌 새 플랫폼으로 C-Formula Top 10에 진입했고, 확인된 과제와 구체적인 개선 계획을 갖고 있습니다. 성장이 시작되는 지점에 함께해 주시기를 제안드립니다.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Baja, EV, Formula 3개 분야에서 총 12건의 기록이 있고, 대표 성적은 2001·2021 대상과 2023 금상입니다. 발표 전 연혁 표기 최종 확인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 FSK에서 C-Formula 33개 팀 중 8위, 전체 60(55)개 팀 중 14위(444.69점)를 기록했고 내구 레이스를 완주했습니다. 새 엔진·휠 플랫폼의 신뢰성을 확인한 시즌이며, 총회에서 차기 R&amp;D의 기준점(Base-line)으로 정리했습니다.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총회에서 정리한 2026 설계·제작 회고와 차기 시즌 기술 개발 방향입니다. UPSIDE 열은 개선 방향이며 달성을 보장하는 수치가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총회 자료의 "포디움 도약을 위한 과제 도출" 내용을 정리했습니다. 동적 종목(오토크로스·가속·스키드패드)은 이미 검증된 기록이 있고, 정적 평가(보고서)를 보완하는 것이 순위 상승의 핵심 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총회 자료의 동계 시즌 기술 개발 방향(계획)입니다. 테스트 위크와 RC 그랑프리의 시기는 총회 자료에 월이 확정되어 있지 않습니다. 일정은 계획이며 변경될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 회고에서 확인한 과제와 기업의 제품·기술이 만나는 지점입니다. 특히 에어로는 외주 가공비 부담으로 설계값과 다른 차량이 완성된 만큼 가공·소재 지원의 효과가 분명한 영역입니다. 지원 형태와 금액은 협의합니다.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팀이 성장하는 만큼 후원사의 이름도 함께 노출됩니다. 팀복 이미지는 후원사 로고를 반영한 시안입니다.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후원사 목록입니다. 각 기업의 지원 형태·시기는 발표 전 확인이 필요합니다. MSC Software 로고는 2017년 등록 아카이브 자료입니다.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KUMA는 차량을 만드는 팀을 넘어 엔지니어를 만드는 팀이 되려 합니다. 그 과정에 함께해 주실 수 있다면 감사하겠습니다. [이메일·전화번호는 발표 전 입력]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김정후\AppData\Local\Temp\claude\D--Work\3e44053d-8e3b-42c3-ba8c-287c937258a4\scratchpad\w\a\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575" y="0"/>
            <a:ext cx="8961120" cy="6858000"/>
          </a:xfrm>
          <a:prstGeom prst="rect">
            <a:avLst/>
          </a:prstGeom>
        </p:spPr>
      </p:pic>
      <p:pic>
        <p:nvPicPr>
          <p:cNvPr id="3" name="Image 1" descr="C:\Users\김정후\AppData\Local\Temp\claude\D--Work\3e44053d-8e3b-42c3-ba8c-287c937258a4\scratchpad\w\a\logo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1737360" cy="486461"/>
          </a:xfrm>
          <a:prstGeom prst="rect">
            <a:avLst/>
          </a:prstGeom>
        </p:spPr>
      </p:pic>
      <p:pic>
        <p:nvPicPr>
          <p:cNvPr id="4" name="Image 2" descr="C:\Users\김정후\AppData\Local\Temp\claude\D--Work\3e44053d-8e3b-42c3-ba8c-287c937258a4\scratchpad\w\a\knu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9935" y="475488"/>
            <a:ext cx="2011680" cy="549189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40080" y="2212848"/>
            <a:ext cx="77724" cy="25603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"/>
          <p:cNvSpPr/>
          <p:nvPr/>
        </p:nvSpPr>
        <p:spPr>
          <a:xfrm>
            <a:off x="708660" y="2212848"/>
            <a:ext cx="77724" cy="256032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/>
          <p:cNvSpPr/>
          <p:nvPr/>
        </p:nvSpPr>
        <p:spPr>
          <a:xfrm>
            <a:off x="777240" y="2212848"/>
            <a:ext cx="77724" cy="256032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/>
          <p:cNvSpPr/>
          <p:nvPr/>
        </p:nvSpPr>
        <p:spPr>
          <a:xfrm>
            <a:off x="1051560" y="21945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kern="0" spc="3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SPONSORSHIP PROPOSAL  ·  2027 SEASON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594360" y="260604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4000"/>
              </a:lnSpc>
              <a:buNone/>
            </a:pPr>
            <a:r>
              <a:rPr lang="en-US" sz="9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JUST GETTING</a:t>
            </a:r>
            <a:endParaRPr lang="en-US" sz="9400" dirty="0"/>
          </a:p>
          <a:p>
            <a:pPr marL="0" indent="0">
              <a:lnSpc>
                <a:spcPct val="84000"/>
              </a:lnSpc>
              <a:buNone/>
            </a:pPr>
            <a:r>
              <a:rPr lang="en-US" sz="9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STARTED.</a:t>
            </a:r>
            <a:endParaRPr lang="en-US" sz="9400" dirty="0"/>
          </a:p>
        </p:txBody>
      </p:sp>
      <p:sp>
        <p:nvSpPr>
          <p:cNvPr id="10" name="Text 5"/>
          <p:cNvSpPr/>
          <p:nvPr/>
        </p:nvSpPr>
        <p:spPr>
          <a:xfrm>
            <a:off x="640080" y="5257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6E8EC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공주대학교 자작자동차 동아리 KUMA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6E8EC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성장의 출발선에 함께해 주실 파트너를 찾습니다.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40080" y="64008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kern="0" spc="250" dirty="0">
                <a:solidFill>
                  <a:srgbClr val="8A909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KONGJU NATIONAL UNIVERSITY MOTORSPORT TEAM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" cy="237744"/>
          </a:xfrm>
          <a:prstGeom prst="parallelogram">
            <a:avLst/>
          </a:prstGeom>
          <a:solidFill>
            <a:srgbClr val="0B0C0F"/>
          </a:solidFill>
          <a:ln w="12700">
            <a:solidFill>
              <a:srgbClr val="0B0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08660" y="502920"/>
            <a:ext cx="77724" cy="237744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" y="502920"/>
            <a:ext cx="77724" cy="237744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51560" y="4892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00A2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  /  TRACK RECORD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96012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4000"/>
              </a:lnSpc>
              <a:buNone/>
            </a:pPr>
            <a:r>
              <a:rPr lang="en-US" sz="6600" kern="0" spc="100" dirty="0">
                <a:solidFill>
                  <a:srgbClr val="0B0C0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STUDENT-BUILT.</a:t>
            </a:r>
            <a:endParaRPr lang="en-US" sz="6600" dirty="0"/>
          </a:p>
          <a:p>
            <a:pPr marL="0" indent="0">
              <a:lnSpc>
                <a:spcPct val="84000"/>
              </a:lnSpc>
              <a:buNone/>
            </a:pPr>
            <a:r>
              <a:rPr lang="en-US" sz="6600" kern="0" spc="100" dirty="0">
                <a:solidFill>
                  <a:srgbClr val="0B0C0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TRACK-PROVEN.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F48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공주대학교 자작자동차 동아리 KUMA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F48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설계부터 대회까지 학생이 직접 합니다.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309360" y="9144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0" kern="0" spc="100" dirty="0">
                <a:solidFill>
                  <a:srgbClr val="00A2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12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6309360" y="2240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kern="0" spc="150" dirty="0">
                <a:solidFill>
                  <a:srgbClr val="5B616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RECORDED RESULTS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38160" y="91440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0" kern="0" spc="100" dirty="0">
                <a:solidFill>
                  <a:srgbClr val="0B0C0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7600" dirty="0"/>
          </a:p>
        </p:txBody>
      </p:sp>
      <p:sp>
        <p:nvSpPr>
          <p:cNvPr id="11" name="Text 9"/>
          <p:cNvSpPr/>
          <p:nvPr/>
        </p:nvSpPr>
        <p:spPr>
          <a:xfrm>
            <a:off x="8138160" y="22402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kern="0" spc="150" dirty="0">
                <a:solidFill>
                  <a:srgbClr val="5B616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BAJA · EV · FORMULA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784080" y="9144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0" kern="0" spc="100" dirty="0">
                <a:solidFill>
                  <a:srgbClr val="0B0C0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2001</a:t>
            </a:r>
            <a:endParaRPr lang="en-US" sz="7600" dirty="0"/>
          </a:p>
        </p:txBody>
      </p:sp>
      <p:sp>
        <p:nvSpPr>
          <p:cNvPr id="13" name="Text 11"/>
          <p:cNvSpPr/>
          <p:nvPr/>
        </p:nvSpPr>
        <p:spPr>
          <a:xfrm>
            <a:off x="97840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kern="0" spc="150" dirty="0">
                <a:solidFill>
                  <a:srgbClr val="5B616B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SINCE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66160"/>
            <a:ext cx="2560320" cy="2377440"/>
          </a:xfrm>
          <a:prstGeom prst="rect">
            <a:avLst/>
          </a:prstGeom>
          <a:solidFill>
            <a:srgbClr val="0B0C0F"/>
          </a:solidFill>
          <a:ln w="9525">
            <a:solidFill>
              <a:srgbClr val="0B0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2560320" cy="64008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886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2001</a:t>
            </a:r>
            <a:endParaRPr lang="en-US" sz="66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Mini Baja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우승 · 대상(전국 1위)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22599" y="3566160"/>
            <a:ext cx="2560320" cy="2377440"/>
          </a:xfrm>
          <a:prstGeom prst="rect">
            <a:avLst/>
          </a:prstGeom>
          <a:solidFill>
            <a:srgbClr val="0B0C0F"/>
          </a:solidFill>
          <a:ln w="9525">
            <a:solidFill>
              <a:srgbClr val="0B0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422599" y="3566160"/>
            <a:ext cx="2560320" cy="64008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96919" y="3886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2021</a:t>
            </a:r>
            <a:endParaRPr lang="en-US" sz="6600" dirty="0"/>
          </a:p>
        </p:txBody>
      </p:sp>
      <p:sp>
        <p:nvSpPr>
          <p:cNvPr id="22" name="Text 20"/>
          <p:cNvSpPr/>
          <p:nvPr/>
        </p:nvSpPr>
        <p:spPr>
          <a:xfrm>
            <a:off x="3696919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아주자동차대학 경주대회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96919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우승 · 대상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05118" y="3566160"/>
            <a:ext cx="2560320" cy="2377440"/>
          </a:xfrm>
          <a:prstGeom prst="rect">
            <a:avLst/>
          </a:prstGeom>
          <a:solidFill>
            <a:srgbClr val="0B0C0F"/>
          </a:solidFill>
          <a:ln w="9525">
            <a:solidFill>
              <a:srgbClr val="0B0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205118" y="3566160"/>
            <a:ext cx="2560320" cy="64008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79438" y="3886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2023</a:t>
            </a:r>
            <a:endParaRPr lang="en-US" sz="6600" dirty="0"/>
          </a:p>
        </p:txBody>
      </p:sp>
      <p:sp>
        <p:nvSpPr>
          <p:cNvPr id="27" name="Text 25"/>
          <p:cNvSpPr/>
          <p:nvPr/>
        </p:nvSpPr>
        <p:spPr>
          <a:xfrm>
            <a:off x="6479438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FSK C-Formula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79438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금상 · 내연기관 1위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87638" y="3566160"/>
            <a:ext cx="2560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3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8987638" y="3566160"/>
            <a:ext cx="2560320" cy="64008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9261958" y="38862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kern="0" spc="100" dirty="0">
                <a:solidFill>
                  <a:srgbClr val="0B0C0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2026</a:t>
            </a:r>
            <a:endParaRPr lang="en-US" sz="6600" dirty="0"/>
          </a:p>
        </p:txBody>
      </p:sp>
      <p:sp>
        <p:nvSpPr>
          <p:cNvPr id="32" name="Text 30"/>
          <p:cNvSpPr/>
          <p:nvPr/>
        </p:nvSpPr>
        <p:spPr>
          <a:xfrm>
            <a:off x="9261958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FSK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61958" y="5257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0B0C0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종합 14위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6126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08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※ KUMA 연혁 문서 기준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8A909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KUMA  /  KONGJU NATIONAL UNIVERSITY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0637215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8A909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김정후\AppData\Local\Temp\claude\D--Work\3e44053d-8e3b-42c3-ba8c-287c937258a4\scratchpad\w\a\ba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77724" cy="23774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708660" y="502920"/>
            <a:ext cx="77724" cy="237744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77240" y="502920"/>
            <a:ext cx="77724" cy="237744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051560" y="4892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  /  2026 SEASON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1792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6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 STRONG BASELINE.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640080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8</a:t>
            </a:r>
            <a:r>
              <a:rPr lang="en-US" sz="34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DD3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C-FORMULA · 33팀 중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172968" y="3383280"/>
            <a:ext cx="0" cy="1508760"/>
          </a:xfrm>
          <a:prstGeom prst="line">
            <a:avLst/>
          </a:prstGeom>
          <a:noFill/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3429000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14</a:t>
            </a:r>
            <a:r>
              <a:rPr lang="en-US" sz="34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TH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2900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DD3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종합 · 60(55)팀 중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61888" y="3383280"/>
            <a:ext cx="0" cy="1508760"/>
          </a:xfrm>
          <a:prstGeom prst="line">
            <a:avLst/>
          </a:prstGeom>
          <a:noFill/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217920" y="3291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444.69</a:t>
            </a:r>
            <a:r>
              <a:rPr lang="en-US" sz="34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 PTS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DD3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대회 종합 점수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390888" y="3383280"/>
            <a:ext cx="0" cy="1508760"/>
          </a:xfrm>
          <a:prstGeom prst="line">
            <a:avLst/>
          </a:prstGeom>
          <a:noFill/>
          <a:ln w="12700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9646920" y="32918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84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FINISH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646920" y="4754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CDD3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내구 레이스 완주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5577840"/>
            <a:ext cx="64008" cy="59436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868680" y="55778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새 플랫폼(YZF-R3  · 10인치 휠)의 신뢰성을 실전에서 검증했습니다.</a:t>
            </a:r>
            <a:endParaRPr lang="en-US" sz="15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이제부터는 이 기준점 위에서 올라갑니다.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4876495" y="647395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17C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2026 FSK 공식 기록 · 시즌 결산 총회 자료 기준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KUMA  /  KONGJU NATIONAL UNIVERSITY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0637215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" cy="23774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08660" y="502920"/>
            <a:ext cx="77724" cy="237744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" y="502920"/>
            <a:ext cx="77724" cy="237744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51560" y="4892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04  /  ROOM TO GROW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868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EVERY LIMIT IS AN UPSIDE.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AA0AA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2026에서 확인한 한계마다, 2027의 구체적인 개선 계획이 있습니다.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6324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AA0A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2026 FINDING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5508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AA0A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2027 FIX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8972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UPSIDE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377440"/>
            <a:ext cx="10908792" cy="667512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64008" cy="667512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CHASSIS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063240" y="2377440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3BC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타각 부족 · 무거운 스티어링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377440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AA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2377440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현가하 질량 15% 감량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23960" y="2377440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2377440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코너 진입 · 드라이버 피로 개선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36392"/>
            <a:ext cx="10908792" cy="667512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136392"/>
            <a:ext cx="64008" cy="667512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68680" y="3136392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POWERTRAIN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3063240" y="3136392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3BC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체인 간섭 · 흡·배기 최적화 필요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3136392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AA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3136392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CFD 흡·배기 설계, 공연비·점화 맵 정밀화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23960" y="3136392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89720" y="3136392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흡기 유속 · 배압 최적화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3895344"/>
            <a:ext cx="10908792" cy="667512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40080" y="3895344"/>
            <a:ext cx="64008" cy="667512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68680" y="3895344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AERO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3063240" y="3895344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3BC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예산 부족으로 장치 간소화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89320" y="3895344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AA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55080" y="3895344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CFD 기반 공력 형상 설계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823960" y="3895344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89720" y="3895344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항력 억제 · 다운포스 밸런스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654296"/>
            <a:ext cx="10908792" cy="667512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40080" y="4654296"/>
            <a:ext cx="64008" cy="667512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68680" y="4654296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DATA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3063240" y="4654296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3BC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드라이버 감각 중심의 셋업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89320" y="4654296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AA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4654296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서스펜션 · 조향 · 타이어 센서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823960" y="4654296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89720" y="4654296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객관적 데이터 기반 셋업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413248"/>
            <a:ext cx="10908792" cy="667512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640080" y="5413248"/>
            <a:ext cx="64008" cy="667512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68680" y="5413248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STATIC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3063240" y="5413248"/>
            <a:ext cx="2743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3BC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보고서(정적 평가) 보완 필요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989320" y="5413248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0AA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55080" y="5413248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해석 · 가공 오차 데이터 반영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823960" y="5413248"/>
            <a:ext cx="3200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89720" y="5413248"/>
            <a:ext cx="23317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정적 부문 순위 상승 타겟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4008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KUMA  /  KONGJU NATIONAL UNIVERSITY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637215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김정후\AppData\Local\Temp\claude\D--Work\3e44053d-8e3b-42c3-ba8c-287c937258a4\scratchpad\w\a\v3_p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335" y="0"/>
            <a:ext cx="402336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77724" cy="23774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708660" y="502920"/>
            <a:ext cx="77724" cy="237744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77240" y="502920"/>
            <a:ext cx="77724" cy="237744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051560" y="4892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05  /  PODIUM TARGET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1792" y="9144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4000"/>
              </a:lnSpc>
              <a:buNone/>
            </a:pPr>
            <a:r>
              <a:rPr lang="en-US" sz="72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AIMING FOR</a:t>
            </a:r>
            <a:endParaRPr lang="en-US" sz="7200" dirty="0"/>
          </a:p>
          <a:p>
            <a:pPr marL="0" indent="0">
              <a:lnSpc>
                <a:spcPct val="84000"/>
              </a:lnSpc>
              <a:buNone/>
            </a:pPr>
            <a:r>
              <a:rPr lang="en-US" sz="72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PODIUM.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640080" y="27432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DD3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동적 종목에서 검증된 성과 + 정적 평가 보완 = 종합 순위의 도약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291840"/>
            <a:ext cx="3200400" cy="269748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0080" y="3291840"/>
            <a:ext cx="3200400" cy="4572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PROVEN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1440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DYNAMIC EVENTS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91440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50" dirty="0">
                <a:solidFill>
                  <a:srgbClr val="9AA0A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AUTOCROSS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240280" y="4389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01:02.996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914400" y="4800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50" dirty="0">
                <a:solidFill>
                  <a:srgbClr val="9AA0A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ACCELERATION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240280" y="4800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00:05.253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14400" y="5212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150" dirty="0">
                <a:solidFill>
                  <a:srgbClr val="9AA0A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SKIDPAD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240280" y="5212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00:11.215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14400" y="5669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AA0A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2026 시즌 베스트 기록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840480" y="4274820"/>
            <a:ext cx="662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+</a:t>
            </a:r>
            <a:endParaRPr lang="en-US" sz="4800" dirty="0"/>
          </a:p>
        </p:txBody>
      </p:sp>
      <p:sp>
        <p:nvSpPr>
          <p:cNvPr id="21" name="Shape 18"/>
          <p:cNvSpPr/>
          <p:nvPr/>
        </p:nvSpPr>
        <p:spPr>
          <a:xfrm>
            <a:off x="4503420" y="3291840"/>
            <a:ext cx="3200400" cy="269748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503420" y="3291840"/>
            <a:ext cx="3200400" cy="4572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77774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TO IMPROVE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77774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STATIC REPORT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4777740" y="44805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해석 · 가공 오차 데이터로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설계 근거를 구체화해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정적 평가 보고서 완성도를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2F2F2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끌어올립니다.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703820" y="4274820"/>
            <a:ext cx="6629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=</a:t>
            </a:r>
            <a:endParaRPr lang="en-US" sz="4800" dirty="0"/>
          </a:p>
        </p:txBody>
      </p:sp>
      <p:sp>
        <p:nvSpPr>
          <p:cNvPr id="27" name="Shape 24"/>
          <p:cNvSpPr/>
          <p:nvPr/>
        </p:nvSpPr>
        <p:spPr>
          <a:xfrm>
            <a:off x="8366760" y="3291840"/>
            <a:ext cx="3200400" cy="269748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864108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TARGET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64108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PODIUM LEAP</a:t>
            </a:r>
            <a:endParaRPr lang="en-US" sz="3200" dirty="0"/>
          </a:p>
        </p:txBody>
      </p:sp>
      <p:sp>
        <p:nvSpPr>
          <p:cNvPr id="30" name="Text 27"/>
          <p:cNvSpPr/>
          <p:nvPr/>
        </p:nvSpPr>
        <p:spPr>
          <a:xfrm>
            <a:off x="8641080" y="448056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동적 성과에 정적 평가를 더해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종합 순위를 극대화하는 것이</a:t>
            </a:r>
            <a:endParaRPr lang="en-US" sz="13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2027 시즌의 목표입니다.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40080" y="612648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17C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※ 기록은 2026 FSK 공식 기록. 포디움은 달성 약속이 아닌 시즌 목표입니다.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4008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KUMA  /  KONGJU NATIONAL UNIVERSITY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0637215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김정후\AppData\Local\Temp\claude\D--Work\3e44053d-8e3b-42c3-ba8c-287c937258a4\scratchpad\w\a\v3_ro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0"/>
            <a:ext cx="4480560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77724" cy="23774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708660" y="502920"/>
            <a:ext cx="77724" cy="237744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777240" y="502920"/>
            <a:ext cx="77724" cy="237744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1051560" y="4892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06  /  WINTER ROADMAP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21792" y="9144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4000"/>
              </a:lnSpc>
              <a:buNone/>
            </a:pPr>
            <a:r>
              <a:rPr lang="en-US" sz="6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 CLEAR ROAD</a:t>
            </a:r>
            <a:endParaRPr lang="en-US" sz="6400" dirty="0"/>
          </a:p>
          <a:p>
            <a:pPr marL="0" indent="0">
              <a:lnSpc>
                <a:spcPct val="84000"/>
              </a:lnSpc>
              <a:buNone/>
            </a:pPr>
            <a:r>
              <a:rPr lang="en-US" sz="6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TO 2027.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640080" y="2697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CDD3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시즌 결산 총회에서 세운 동계 개발 계획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3794760"/>
            <a:ext cx="9875520" cy="0"/>
          </a:xfrm>
          <a:prstGeom prst="line">
            <a:avLst/>
          </a:prstGeom>
          <a:noFill/>
          <a:ln w="25400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68680" y="3794760"/>
            <a:ext cx="7406640" cy="0"/>
          </a:xfrm>
          <a:prstGeom prst="line">
            <a:avLst/>
          </a:prstGeom>
          <a:noFill/>
          <a:ln w="3175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68096" y="369417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0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OCT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7724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신차량 설계 시작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7724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A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신입 부원 교육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36976" y="369417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0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3246120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NOV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324612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26 차량 리워크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24612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A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부품 탈거 · 재생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705856" y="369417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0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5715000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DEC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571500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프레임 제작 시작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71500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A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흡·배기 부품 · 배선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74736" y="3694176"/>
            <a:ext cx="201168" cy="201168"/>
          </a:xfrm>
          <a:prstGeom prst="ellipse">
            <a:avLst/>
          </a:prstGeom>
          <a:solidFill>
            <a:srgbClr val="00A23E"/>
          </a:solidFill>
          <a:ln w="25400">
            <a:solidFill>
              <a:srgbClr val="0B0C0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8183880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FEB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818388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프레임 제작 완료 목표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8183880" y="4416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A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규정 부품 설계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0643616" y="3694176"/>
            <a:ext cx="201168" cy="201168"/>
          </a:xfrm>
          <a:prstGeom prst="ellipse">
            <a:avLst/>
          </a:prstGeom>
          <a:solidFill>
            <a:srgbClr val="0B0C0F"/>
          </a:solidFill>
          <a:ln w="25400">
            <a:solidFill>
              <a:srgbClr val="3DDC8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10652760" y="31546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NEXT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10652760" y="4069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테스트 위크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10652760" y="4416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A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RC GRAND PRIX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40080" y="5120640"/>
            <a:ext cx="3547872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40080" y="5120640"/>
            <a:ext cx="64008" cy="118872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914400" y="5230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15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TEAM SYSTEM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14400" y="5577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파트별 전담 책임제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1440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A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2027 시즌 조기 설계 분배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343400" y="5120640"/>
            <a:ext cx="3547872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4343400" y="5120640"/>
            <a:ext cx="64008" cy="118872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4617720" y="5230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15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ENGINEER TRAINING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4617720" y="5577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CATIA V5 · Ansys 실습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461772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A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설계 · 해석 역량 교육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046720" y="5120640"/>
            <a:ext cx="3547872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8046720" y="5120640"/>
            <a:ext cx="64008" cy="118872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8321040" y="5230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kern="0" spc="15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321040" y="5577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선반 · 밀링 · TIG · 탄소섬유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8321040" y="5897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0AA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실전 가공 기술 전수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64008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KUMA  /  KONGJU NATIONAL UNIVERSITY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10637215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김정후\AppData\Local\Temp\claude\D--Work\3e44053d-8e3b-42c3-ba8c-287c937258a4\scratchpad\w\a\v3_unlo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9319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480560" y="502920"/>
            <a:ext cx="77724" cy="23774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4549140" y="502920"/>
            <a:ext cx="77724" cy="237744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4617720" y="502920"/>
            <a:ext cx="77724" cy="237744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892040" y="4892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07  /  PARTNER IMPACT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462272" y="914400"/>
            <a:ext cx="7223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4000"/>
              </a:lnSpc>
              <a:buNone/>
            </a:pPr>
            <a:r>
              <a:rPr lang="en-US" sz="60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WHAT YOUR SUPPORT</a:t>
            </a:r>
            <a:endParaRPr lang="en-US" sz="6000" dirty="0"/>
          </a:p>
          <a:p>
            <a:pPr marL="0" indent="0">
              <a:lnSpc>
                <a:spcPct val="84000"/>
              </a:lnSpc>
              <a:buNone/>
            </a:pPr>
            <a:r>
              <a:rPr lang="en-US" sz="60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UNLOCKS.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35508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AA0A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SUPPORT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UNLOCKS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2971800"/>
            <a:ext cx="7132320" cy="64008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480560" y="2971800"/>
            <a:ext cx="64008" cy="64008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709160" y="2971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AERO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63550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소재 · 복합재 · 가공 지원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915400" y="29718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3268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설계값 그대로 제작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80560" y="3703320"/>
            <a:ext cx="7132320" cy="64008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4480560" y="3703320"/>
            <a:ext cx="64008" cy="64008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709160" y="3703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CHASSIS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6355080" y="3703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허브 · 업라이트 가공 지원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915400" y="37033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32688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현가하 질량 15% 감량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480560" y="4434840"/>
            <a:ext cx="7132320" cy="64008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480560" y="4434840"/>
            <a:ext cx="64008" cy="64008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709160" y="4434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DATA</a:t>
            </a:r>
            <a:endParaRPr lang="en-US" sz="2100" dirty="0"/>
          </a:p>
        </p:txBody>
      </p:sp>
      <p:sp>
        <p:nvSpPr>
          <p:cNvPr id="25" name="Text 22"/>
          <p:cNvSpPr/>
          <p:nvPr/>
        </p:nvSpPr>
        <p:spPr>
          <a:xfrm>
            <a:off x="6355080" y="4434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센서 · 계측 장비 · 기술 자문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915400" y="44348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32688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실측 기반 셋업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4480560" y="5166360"/>
            <a:ext cx="7132320" cy="64008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4480560" y="5166360"/>
            <a:ext cx="64008" cy="640080"/>
          </a:xfrm>
          <a:prstGeom prst="rect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4709160" y="51663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kern="0" spc="1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POWERTRAIN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6355080" y="51663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부품 · 가공 · 기술 자문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915400" y="516636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23E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326880" y="5166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DC84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흡·배기 최적화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4480560" y="603504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CDD3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꼭 현금일 필요는 없습니다.  제품 · 공구 · 소재 · 가공 · 기술 자문 · 교육 · 후원금 — 형태와 범위는 함께 정합니다.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637215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" cy="23774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08660" y="502920"/>
            <a:ext cx="77724" cy="237744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" y="502920"/>
            <a:ext cx="77724" cy="237744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51560" y="4892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08  /  BRAND VISIBILITY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868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GROW WITH US, SEEN BY ALL.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AA0AA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차량 · 팀복 · 홈페이지 · SNS · 영상  |  로고 위치와 크기는 협의합니다.</a:t>
            </a:r>
            <a:endParaRPr lang="en-US" sz="1250" dirty="0"/>
          </a:p>
        </p:txBody>
      </p:sp>
      <p:pic>
        <p:nvPicPr>
          <p:cNvPr id="8" name="Image 0" descr="C:\Users\김정후\AppData\Local\Temp\claude\D--Work\3e44053d-8e3b-42c3-ba8c-287c937258a4\scratchpad\w\a\v2_teamwea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6400800" cy="3840480"/>
          </a:xfrm>
          <a:prstGeom prst="rect">
            <a:avLst/>
          </a:prstGeom>
        </p:spPr>
      </p:pic>
      <p:pic>
        <p:nvPicPr>
          <p:cNvPr id="9" name="Image 1" descr="C:\Users\김정후\AppData\Local\Temp\claude\D--Work\3e44053d-8e3b-42c3-ba8c-287c937258a4\scratchpad\w\a\v2_ca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2148840"/>
            <a:ext cx="4343400" cy="384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6080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kern="0" spc="15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TEAMWEAR  </a:t>
            </a:r>
            <a:r>
              <a:rPr lang="en-US" sz="1050" dirty="0">
                <a:solidFill>
                  <a:srgbClr val="F2F2F2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후원사 로고가 들어가는 팀복 시안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205472" y="60807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kern="0" spc="15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VEHICLE DECALS  </a:t>
            </a:r>
            <a:r>
              <a:rPr lang="en-US" sz="1050" dirty="0">
                <a:solidFill>
                  <a:srgbClr val="F2F2F2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차량 외장 로고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KUMA  /  KONGJU NATIONAL UNIVERSITY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637215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77724" cy="23774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08660" y="502920"/>
            <a:ext cx="77724" cy="237744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77240" y="502920"/>
            <a:ext cx="77724" cy="237744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51560" y="4892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11  /  OUR PARTNERS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8686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ALREADY BUILDING WITH US.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AA0AA"/>
                </a:solidFill>
                <a:latin typeface="A2Z 5 Medium" pitchFamily="34" charset="0"/>
                <a:ea typeface="A2Z 5 Medium" pitchFamily="34" charset="-122"/>
                <a:cs typeface="A2Z 5 Medium" pitchFamily="34" charset="-120"/>
              </a:rPr>
              <a:t>KUMA와 함께해 온 기업들. 2027 시즌에는 귀사의 이름을 더하고 싶습니다.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C:\Users\김정후\AppData\Local\Temp\claude\D--Work\3e44053d-8e3b-42c3-ba8c-287c937258a4\scratchpad\w\a\lg_ansys-part-of-synop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91" y="2459736"/>
            <a:ext cx="1300208" cy="6583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49270" y="219456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C:\Users\김정후\AppData\Local\Temp\claude\D--Work\3e44053d-8e3b-42c3-ba8c-287c937258a4\scratchpad\w\a\lg_misum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590" y="2717828"/>
            <a:ext cx="1523390" cy="14218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058461" y="219456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C:\Users\김정후\AppData\Local\Temp\claude\D--Work\3e44053d-8e3b-42c3-ba8c-287c937258a4\scratchpad\w\a\lg_optimu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781" y="2648873"/>
            <a:ext cx="1523390" cy="28009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267651" y="219456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C:\Users\김정후\AppData\Local\Temp\claude\D--Work\3e44053d-8e3b-42c3-ba8c-287c937258a4\scratchpad\w\a\lg_calsp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1971" y="2641002"/>
            <a:ext cx="1523390" cy="295837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476842" y="219456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C:\Users\김정후\AppData\Local\Temp\claude\D--Work\3e44053d-8e3b-42c3-ba8c-287c937258a4\scratchpad\w\a\lg_hoosi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9754" y="2459736"/>
            <a:ext cx="1446206" cy="658368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40080" y="352044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5" descr="C:\Users\김정후\AppData\Local\Temp\claude\D--Work\3e44053d-8e3b-42c3-ba8c-287c937258a4\scratchpad\w\a\lg_oz-rac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3843103"/>
            <a:ext cx="1523390" cy="543395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2849270" y="352044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6" descr="C:\Users\김정후\AppData\Local\Temp\claude\D--Work\3e44053d-8e3b-42c3-ba8c-287c937258a4\scratchpad\w\a\lg_turbosm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3590" y="3878782"/>
            <a:ext cx="1523390" cy="472036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5058461" y="352044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7" descr="C:\Users\김정후\AppData\Local\Temp\claude\D--Work\3e44053d-8e3b-42c3-ba8c-287c937258a4\scratchpad\w\a\lg_ecumas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0915" y="3785616"/>
            <a:ext cx="1347122" cy="658368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267651" y="352044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8" descr="C:\Users\김정후\AppData\Local\Temp\claude\D--Work\3e44053d-8e3b-42c3-ba8c-287c937258a4\scratchpad\w\a\lg_cane-cree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1971" y="3871058"/>
            <a:ext cx="1523390" cy="487485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9476842" y="352044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9" descr="C:\Users\김정후\AppData\Local\Temp\claude\D--Work\3e44053d-8e3b-42c3-ba8c-287c937258a4\scratchpad\w\a\lg_nord-lo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51162" y="3927436"/>
            <a:ext cx="1523390" cy="374728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640080" y="484632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Image 10" descr="C:\Users\김정후\AppData\Local\Temp\claude\D--Work\3e44053d-8e3b-42c3-ba8c-287c937258a4\scratchpad\w\a\lg_msc-softwar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5236514"/>
            <a:ext cx="1523390" cy="408331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2849270" y="484632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11" descr="C:\Users\김정후\AppData\Local\Temp\claude\D--Work\3e44053d-8e3b-42c3-ba8c-287c937258a4\scratchpad\w\a\lg_aimsa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23590" y="5290809"/>
            <a:ext cx="1523390" cy="299741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5058461" y="484632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12" descr="C:\Users\김정후\AppData\Local\Temp\claude\D--Work\3e44053d-8e3b-42c3-ba8c-287c937258a4\scratchpad\w\a\lg_upgrade-motors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30958" y="5111496"/>
            <a:ext cx="1127037" cy="658368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7267651" y="484632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0"/>
          <p:cNvSpPr/>
          <p:nvPr/>
        </p:nvSpPr>
        <p:spPr>
          <a:xfrm>
            <a:off x="7267651" y="4846320"/>
            <a:ext cx="207203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2F2F2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대흥샤링</a:t>
            </a:r>
            <a:endParaRPr lang="en-US" sz="1800" dirty="0"/>
          </a:p>
        </p:txBody>
      </p:sp>
      <p:sp>
        <p:nvSpPr>
          <p:cNvPr id="36" name="Shape 21"/>
          <p:cNvSpPr/>
          <p:nvPr/>
        </p:nvSpPr>
        <p:spPr>
          <a:xfrm>
            <a:off x="9476842" y="4846320"/>
            <a:ext cx="2072030" cy="1188720"/>
          </a:xfrm>
          <a:prstGeom prst="rect">
            <a:avLst/>
          </a:prstGeom>
          <a:solidFill>
            <a:srgbClr val="15171C"/>
          </a:solidFill>
          <a:ln w="9525">
            <a:solidFill>
              <a:srgbClr val="2A2D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2"/>
          <p:cNvSpPr/>
          <p:nvPr/>
        </p:nvSpPr>
        <p:spPr>
          <a:xfrm>
            <a:off x="9476842" y="4846320"/>
            <a:ext cx="207203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kern="0" spc="200" dirty="0">
                <a:solidFill>
                  <a:srgbClr val="F2F2F2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BANGERS</a:t>
            </a:r>
            <a:endParaRPr lang="en-US" sz="3000" dirty="0"/>
          </a:p>
        </p:txBody>
      </p:sp>
      <p:sp>
        <p:nvSpPr>
          <p:cNvPr id="38" name="Text 23"/>
          <p:cNvSpPr/>
          <p:nvPr/>
        </p:nvSpPr>
        <p:spPr>
          <a:xfrm>
            <a:off x="640080" y="61447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717C"/>
                </a:solidFill>
                <a:latin typeface="A2Z 4 Regular" pitchFamily="34" charset="0"/>
                <a:ea typeface="A2Z 4 Regular" pitchFamily="34" charset="-122"/>
                <a:cs typeface="A2Z 4 Regular" pitchFamily="34" charset="-120"/>
              </a:rPr>
              <a:t>로고의 권리는 각 브랜드에 있습니다.  ·  기존 KUMA 후원사 목록 기준</a:t>
            </a:r>
            <a:endParaRPr lang="en-US" sz="950" dirty="0"/>
          </a:p>
        </p:txBody>
      </p:sp>
      <p:sp>
        <p:nvSpPr>
          <p:cNvPr id="39" name="Text 24"/>
          <p:cNvSpPr/>
          <p:nvPr/>
        </p:nvSpPr>
        <p:spPr>
          <a:xfrm>
            <a:off x="64008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KUMA  /  KONGJU NATIONAL UNIVERSITY</a:t>
            </a:r>
            <a:endParaRPr lang="en-US" sz="1050" dirty="0"/>
          </a:p>
        </p:txBody>
      </p:sp>
      <p:sp>
        <p:nvSpPr>
          <p:cNvPr id="40" name="Text 25"/>
          <p:cNvSpPr/>
          <p:nvPr/>
        </p:nvSpPr>
        <p:spPr>
          <a:xfrm>
            <a:off x="10637215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kern="0" spc="200" dirty="0">
                <a:solidFill>
                  <a:srgbClr val="6B717C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김정후\AppData\Local\Temp\claude\D--Work\3e44053d-8e3b-42c3-ba8c-287c937258a4\scratchpad\w\a\clo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575" y="0"/>
            <a:ext cx="8961120" cy="6858000"/>
          </a:xfrm>
          <a:prstGeom prst="rect">
            <a:avLst/>
          </a:prstGeom>
        </p:spPr>
      </p:pic>
      <p:pic>
        <p:nvPicPr>
          <p:cNvPr id="3" name="Image 1" descr="C:\Users\김정후\AppData\Local\Temp\claude\D--Work\3e44053d-8e3b-42c3-ba8c-287c937258a4\scratchpad\w\a\logo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1737360" cy="486461"/>
          </a:xfrm>
          <a:prstGeom prst="rect">
            <a:avLst/>
          </a:prstGeom>
        </p:spPr>
      </p:pic>
      <p:pic>
        <p:nvPicPr>
          <p:cNvPr id="4" name="Image 2" descr="C:\Users\김정후\AppData\Local\Temp\claude\D--Work\3e44053d-8e3b-42c3-ba8c-287c937258a4\scratchpad\w\a\knu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9935" y="475488"/>
            <a:ext cx="2011680" cy="549189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40080" y="2724912"/>
            <a:ext cx="77724" cy="23774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1"/>
          <p:cNvSpPr/>
          <p:nvPr/>
        </p:nvSpPr>
        <p:spPr>
          <a:xfrm>
            <a:off x="708660" y="2724912"/>
            <a:ext cx="77724" cy="237744"/>
          </a:xfrm>
          <a:prstGeom prst="parallelogram">
            <a:avLst/>
          </a:prstGeom>
          <a:solidFill>
            <a:srgbClr val="00A23E"/>
          </a:solidFill>
          <a:ln w="12700">
            <a:solidFill>
              <a:srgbClr val="00A23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2"/>
          <p:cNvSpPr/>
          <p:nvPr/>
        </p:nvSpPr>
        <p:spPr>
          <a:xfrm>
            <a:off x="777240" y="2724912"/>
            <a:ext cx="77724" cy="237744"/>
          </a:xfrm>
          <a:prstGeom prst="parallelogram">
            <a:avLst/>
          </a:prstGeom>
          <a:solidFill>
            <a:srgbClr val="0339F8"/>
          </a:solidFill>
          <a:ln w="12700">
            <a:solidFill>
              <a:srgbClr val="0339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3"/>
          <p:cNvSpPr/>
          <p:nvPr/>
        </p:nvSpPr>
        <p:spPr>
          <a:xfrm>
            <a:off x="1051560" y="27111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LET'S BUILD THE 2027 CAR TOGETHER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03504" y="306324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84000"/>
              </a:lnSpc>
              <a:buNone/>
            </a:pPr>
            <a:r>
              <a:rPr lang="en-US" sz="78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WE BUILD MORE THAN CARS.</a:t>
            </a:r>
            <a:endParaRPr lang="en-US" sz="7800" dirty="0"/>
          </a:p>
          <a:p>
            <a:pPr marL="0" indent="0">
              <a:lnSpc>
                <a:spcPct val="84000"/>
              </a:lnSpc>
              <a:buNone/>
            </a:pPr>
            <a:r>
              <a:rPr lang="en-US" sz="7800" kern="0" spc="10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WE BUILD ENGINEERS.</a:t>
            </a:r>
            <a:endParaRPr lang="en-US" sz="7800" dirty="0"/>
          </a:p>
        </p:txBody>
      </p:sp>
      <p:sp>
        <p:nvSpPr>
          <p:cNvPr id="10" name="Shape 5"/>
          <p:cNvSpPr/>
          <p:nvPr/>
        </p:nvSpPr>
        <p:spPr>
          <a:xfrm>
            <a:off x="640080" y="5486400"/>
            <a:ext cx="10908792" cy="0"/>
          </a:xfrm>
          <a:prstGeom prst="line">
            <a:avLst/>
          </a:prstGeom>
          <a:noFill/>
          <a:ln w="9525">
            <a:solidFill>
              <a:srgbClr val="3A3F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6"/>
          <p:cNvSpPr/>
          <p:nvPr/>
        </p:nvSpPr>
        <p:spPr>
          <a:xfrm>
            <a:off x="640080" y="5623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CONTACT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0080" y="5879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김정후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429000" y="5623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EMAIL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429000" y="5879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[이메일 입력]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5989320" y="5623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PHONE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989320" y="5879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[전화번호 입력]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549640" y="5623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DDC8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WEB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549640" y="5879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2Z 7 Bold" pitchFamily="34" charset="0"/>
                <a:ea typeface="A2Z 7 Bold" pitchFamily="34" charset="-122"/>
                <a:cs typeface="A2Z 7 Bold" pitchFamily="34" charset="-120"/>
              </a:rPr>
              <a:t>wjdgnrla0309.github.io/KUMA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6473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kern="0" spc="200" dirty="0">
                <a:solidFill>
                  <a:srgbClr val="8A909A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KUMA  /  KONGJU NATIONAL UNIVERSITY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1005</Words>
  <Application>Microsoft Office PowerPoint</Application>
  <PresentationFormat>와이드스크린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A2Z 4 Regular</vt:lpstr>
      <vt:lpstr>A2Z 5 Medium</vt:lpstr>
      <vt:lpstr>A2Z 7 Bold</vt:lpstr>
      <vt:lpstr>Arial</vt:lpstr>
      <vt:lpstr>Bebas Neue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KUMA Sponsorship Proposal 2027 (Claude ver. v3)</dc:title>
  <dc:subject>PptxGenJS Presentation</dc:subject>
  <dc:creator>KUMA</dc:creator>
  <cp:lastModifiedBy>김정후</cp:lastModifiedBy>
  <cp:revision>3</cp:revision>
  <dcterms:created xsi:type="dcterms:W3CDTF">2026-10-09T11:48:35Z</dcterms:created>
  <dcterms:modified xsi:type="dcterms:W3CDTF">2026-10-10T04:42:43Z</dcterms:modified>
</cp:coreProperties>
</file>